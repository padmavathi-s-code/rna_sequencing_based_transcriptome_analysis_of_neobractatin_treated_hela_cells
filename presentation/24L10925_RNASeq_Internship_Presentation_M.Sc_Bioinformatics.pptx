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6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dmavathi S" userId="eb1e0dae1dcde2b8" providerId="LiveId" clId="{15C3D0FC-EC06-4622-AF7D-24756110CC64}"/>
    <pc:docChg chg="modSld">
      <pc:chgData name="Padmavathi S" userId="eb1e0dae1dcde2b8" providerId="LiveId" clId="{15C3D0FC-EC06-4622-AF7D-24756110CC64}" dt="2026-01-31T02:42:14.127" v="2" actId="14100"/>
      <pc:docMkLst>
        <pc:docMk/>
      </pc:docMkLst>
      <pc:sldChg chg="modSp mod">
        <pc:chgData name="Padmavathi S" userId="eb1e0dae1dcde2b8" providerId="LiveId" clId="{15C3D0FC-EC06-4622-AF7D-24756110CC64}" dt="2026-01-31T02:42:14.127" v="2" actId="14100"/>
        <pc:sldMkLst>
          <pc:docMk/>
          <pc:sldMk cId="2643715219" sldId="307"/>
        </pc:sldMkLst>
        <pc:spChg chg="mod">
          <ac:chgData name="Padmavathi S" userId="eb1e0dae1dcde2b8" providerId="LiveId" clId="{15C3D0FC-EC06-4622-AF7D-24756110CC64}" dt="2026-01-31T02:42:14.127" v="2" actId="14100"/>
          <ac:spMkLst>
            <pc:docMk/>
            <pc:sldMk cId="2643715219" sldId="307"/>
            <ac:spMk id="11" creationId="{582EFF18-D541-FE15-5FF7-554DE080BA96}"/>
          </ac:spMkLst>
        </pc:spChg>
      </pc:sldChg>
      <pc:sldChg chg="modSp mod">
        <pc:chgData name="Padmavathi S" userId="eb1e0dae1dcde2b8" providerId="LiveId" clId="{15C3D0FC-EC06-4622-AF7D-24756110CC64}" dt="2026-01-31T02:39:22.161" v="0" actId="12"/>
        <pc:sldMkLst>
          <pc:docMk/>
          <pc:sldMk cId="2188745972" sldId="309"/>
        </pc:sldMkLst>
        <pc:spChg chg="mod">
          <ac:chgData name="Padmavathi S" userId="eb1e0dae1dcde2b8" providerId="LiveId" clId="{15C3D0FC-EC06-4622-AF7D-24756110CC64}" dt="2026-01-31T02:39:22.161" v="0" actId="12"/>
          <ac:spMkLst>
            <pc:docMk/>
            <pc:sldMk cId="2188745972" sldId="309"/>
            <ac:spMk id="3" creationId="{7F99FDAA-04F6-7D72-CABE-24115448B3B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417C17-800C-3C13-16E1-9720594F5D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604514-7870-198E-5576-6005A22848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D0D0B-CA64-42F9-9891-C2D0B60D9822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DB556A-8C9D-4B51-603B-C1CF739E5B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14AD40-D38F-2163-B244-D8591C69B9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61B49-B887-4399-97CB-8992FDB53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83170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1AB2D3-F9F8-4BED-9BD5-C84EA810C3FA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3201B-DF53-4184-A5C2-E56F130C1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44250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0361" y="1242627"/>
            <a:ext cx="8229600" cy="393356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RNA‑Sequencing Based Transcriptome Analysis of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Neobractatin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‑Treated HeLa Cells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B3DC24-92C3-D37A-A014-305BB611CC30}"/>
              </a:ext>
            </a:extLst>
          </p:cNvPr>
          <p:cNvSpPr/>
          <p:nvPr/>
        </p:nvSpPr>
        <p:spPr>
          <a:xfrm>
            <a:off x="0" y="8816"/>
            <a:ext cx="12192000" cy="1161223"/>
          </a:xfrm>
          <a:prstGeom prst="rect">
            <a:avLst/>
          </a:prstGeom>
          <a:solidFill>
            <a:srgbClr val="EE5D3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Examination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E00C46-C6A1-B18C-02CB-2B4B9D95B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348" y="219120"/>
            <a:ext cx="2018078" cy="8620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77CE9A7-A732-4644-3ADD-87A4E354781F}"/>
              </a:ext>
            </a:extLst>
          </p:cNvPr>
          <p:cNvSpPr/>
          <p:nvPr/>
        </p:nvSpPr>
        <p:spPr>
          <a:xfrm>
            <a:off x="0" y="2547780"/>
            <a:ext cx="12192000" cy="1323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work submitted in partial fulfilment of the requirement for the degree of 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OF SCIENCE IN BIOINFORMATICS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(SCHOOL OF LIFE SCIENCE)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AC6AEB-48D8-5C27-1ECC-E17D78DD8653}"/>
              </a:ext>
            </a:extLst>
          </p:cNvPr>
          <p:cNvSpPr txBox="1"/>
          <p:nvPr/>
        </p:nvSpPr>
        <p:spPr>
          <a:xfrm>
            <a:off x="7197212" y="4330556"/>
            <a:ext cx="45867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Mohan T C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Biotechnology and Bioinformatics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Life Science, Mysuru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JSS Academy of Higher Education &amp; Research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Mysuru-570015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809AAA-2EA2-CFD5-3F54-7E513AABA2F5}"/>
              </a:ext>
            </a:extLst>
          </p:cNvPr>
          <p:cNvSpPr txBox="1"/>
          <p:nvPr/>
        </p:nvSpPr>
        <p:spPr>
          <a:xfrm>
            <a:off x="4615544" y="6288034"/>
            <a:ext cx="2318657" cy="4001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January 2026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D90998-A45F-08E0-F4A6-0D760A6A040B}"/>
              </a:ext>
            </a:extLst>
          </p:cNvPr>
          <p:cNvSpPr txBox="1"/>
          <p:nvPr/>
        </p:nvSpPr>
        <p:spPr>
          <a:xfrm>
            <a:off x="462118" y="4330556"/>
            <a:ext cx="611074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Padmavathi S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24L10925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MSc Bioinformatics III Semester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Life Science, Mysuru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JSS Academy of Higher Education &amp; Research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Mysuru-570015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FB093-E977-7BEA-2964-EBE8C9F4D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1" y="846138"/>
            <a:ext cx="109728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8259E-83A8-D50D-B826-56843513C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33117"/>
            <a:ext cx="109728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 sequencing (RNA-Seq) is a next-generation sequencing technique used to study the complete transcriptome of a cell.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accurate quantification of gene expression and identification of differentially expressed genes under different conditions.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Neobractatin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(NBT) is a natural compound reported to exhibit anticancer and cytotoxic properties in various cancer models.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HeLa cells serve as a well-established in-vitro model system for studying molecular mechanisms in cervical cancer.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uses RNA-Seq analysis to investigate transcriptomic changes induced by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Neobractatin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treatment in HeLa cells.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4B525F-2D62-9E32-60B8-4F3D2D21E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322" y="555578"/>
            <a:ext cx="2018078" cy="862060"/>
          </a:xfrm>
          <a:prstGeom prst="rect">
            <a:avLst/>
          </a:prstGeom>
        </p:spPr>
      </p:pic>
      <p:sp>
        <p:nvSpPr>
          <p:cNvPr id="5" name="Google Shape;89;p1">
            <a:extLst>
              <a:ext uri="{FF2B5EF4-FFF2-40B4-BE49-F238E27FC236}">
                <a16:creationId xmlns:a16="http://schemas.microsoft.com/office/drawing/2014/main" id="{C5E29CCE-85E7-64BA-3394-BDDC8A8757A9}"/>
              </a:ext>
            </a:extLst>
          </p:cNvPr>
          <p:cNvSpPr/>
          <p:nvPr/>
        </p:nvSpPr>
        <p:spPr>
          <a:xfrm>
            <a:off x="0" y="0"/>
            <a:ext cx="12204192" cy="415108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Google Shape;90;p1">
            <a:extLst>
              <a:ext uri="{FF2B5EF4-FFF2-40B4-BE49-F238E27FC236}">
                <a16:creationId xmlns:a16="http://schemas.microsoft.com/office/drawing/2014/main" id="{EEFA8D17-8EA7-63D4-B85D-B89E0D0876CF}"/>
              </a:ext>
            </a:extLst>
          </p:cNvPr>
          <p:cNvSpPr/>
          <p:nvPr/>
        </p:nvSpPr>
        <p:spPr>
          <a:xfrm>
            <a:off x="0" y="6620256"/>
            <a:ext cx="4140439" cy="237744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Google Shape;89;p1">
            <a:extLst>
              <a:ext uri="{FF2B5EF4-FFF2-40B4-BE49-F238E27FC236}">
                <a16:creationId xmlns:a16="http://schemas.microsoft.com/office/drawing/2014/main" id="{00AE1792-D945-9BBA-C499-CDE7CCEE568C}"/>
              </a:ext>
            </a:extLst>
          </p:cNvPr>
          <p:cNvSpPr/>
          <p:nvPr/>
        </p:nvSpPr>
        <p:spPr>
          <a:xfrm>
            <a:off x="4140439" y="6608064"/>
            <a:ext cx="4385297" cy="249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" name="Google Shape;89;p1">
            <a:extLst>
              <a:ext uri="{FF2B5EF4-FFF2-40B4-BE49-F238E27FC236}">
                <a16:creationId xmlns:a16="http://schemas.microsoft.com/office/drawing/2014/main" id="{E2166D0A-9714-352A-59A0-D03AEAB89A6A}"/>
              </a:ext>
            </a:extLst>
          </p:cNvPr>
          <p:cNvSpPr/>
          <p:nvPr/>
        </p:nvSpPr>
        <p:spPr>
          <a:xfrm>
            <a:off x="8525736" y="6606809"/>
            <a:ext cx="3708520" cy="251191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4462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9;p1">
            <a:extLst>
              <a:ext uri="{FF2B5EF4-FFF2-40B4-BE49-F238E27FC236}">
                <a16:creationId xmlns:a16="http://schemas.microsoft.com/office/drawing/2014/main" id="{80B75D95-5DFC-280F-D21C-A2C691B4CD68}"/>
              </a:ext>
            </a:extLst>
          </p:cNvPr>
          <p:cNvSpPr/>
          <p:nvPr/>
        </p:nvSpPr>
        <p:spPr>
          <a:xfrm>
            <a:off x="-12192" y="-12192"/>
            <a:ext cx="12204192" cy="249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Google Shape;90;p1">
            <a:extLst>
              <a:ext uri="{FF2B5EF4-FFF2-40B4-BE49-F238E27FC236}">
                <a16:creationId xmlns:a16="http://schemas.microsoft.com/office/drawing/2014/main" id="{2B9D1950-C6D8-F5D9-0FC3-F5DDFFB0058F}"/>
              </a:ext>
            </a:extLst>
          </p:cNvPr>
          <p:cNvSpPr/>
          <p:nvPr/>
        </p:nvSpPr>
        <p:spPr>
          <a:xfrm>
            <a:off x="-12192" y="6620256"/>
            <a:ext cx="4140439" cy="237744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Google Shape;90;p1">
            <a:extLst>
              <a:ext uri="{FF2B5EF4-FFF2-40B4-BE49-F238E27FC236}">
                <a16:creationId xmlns:a16="http://schemas.microsoft.com/office/drawing/2014/main" id="{1477640C-B8A3-DFD0-E264-B93E23454612}"/>
              </a:ext>
            </a:extLst>
          </p:cNvPr>
          <p:cNvSpPr/>
          <p:nvPr/>
        </p:nvSpPr>
        <p:spPr>
          <a:xfrm>
            <a:off x="0" y="245824"/>
            <a:ext cx="12204192" cy="45719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Google Shape;89;p1">
            <a:extLst>
              <a:ext uri="{FF2B5EF4-FFF2-40B4-BE49-F238E27FC236}">
                <a16:creationId xmlns:a16="http://schemas.microsoft.com/office/drawing/2014/main" id="{E28D0ECD-0B1D-01D6-2621-B012C4850BAF}"/>
              </a:ext>
            </a:extLst>
          </p:cNvPr>
          <p:cNvSpPr/>
          <p:nvPr/>
        </p:nvSpPr>
        <p:spPr>
          <a:xfrm>
            <a:off x="8483480" y="6611072"/>
            <a:ext cx="3708520" cy="251191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2" name="Google Shape;89;p1">
            <a:extLst>
              <a:ext uri="{FF2B5EF4-FFF2-40B4-BE49-F238E27FC236}">
                <a16:creationId xmlns:a16="http://schemas.microsoft.com/office/drawing/2014/main" id="{7B81ED5D-0407-48C2-B23F-5E920670E003}"/>
              </a:ext>
            </a:extLst>
          </p:cNvPr>
          <p:cNvSpPr/>
          <p:nvPr/>
        </p:nvSpPr>
        <p:spPr>
          <a:xfrm>
            <a:off x="4128247" y="6614160"/>
            <a:ext cx="4385297" cy="249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3" name="Google Shape;97;p1" descr="Image result for jss aher logo">
            <a:extLst>
              <a:ext uri="{FF2B5EF4-FFF2-40B4-BE49-F238E27FC236}">
                <a16:creationId xmlns:a16="http://schemas.microsoft.com/office/drawing/2014/main" id="{6CAAB24F-38B3-5720-2111-5FA76200DD1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83344"/>
            <a:ext cx="216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80C9AB1-AC68-7149-B212-169871FD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22652"/>
            <a:ext cx="10972800" cy="1050596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DBAB07FF-5CC8-80A7-11FA-C98B756F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RNA-Seq has emerged as a powerful tool for transcriptome-wide analysis of gene expression and drug response in cancer studies.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studies have demonstrated the utility of RNA-Seq in identifying differentially expressed genes and dysregulated pathways following anticancer drug treatment.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Neobractatin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(NBT), a natural xanthone derivative, has been reported to exhibit anticancer activities such as growth inhibition and induction of apoptosis.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studies indicate that anticancer compounds often modulate pathways including p53 signaling, apoptosis, cell cycle regulation, and metabolic processes.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comprehensive transcriptome-level analysis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Neobractatin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-treated HeLa cells remains limited, highlighting the need for RNA-Seq-based investigation.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8641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562CA-69EB-5FFD-8FA4-708BE37CE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9;p1">
            <a:extLst>
              <a:ext uri="{FF2B5EF4-FFF2-40B4-BE49-F238E27FC236}">
                <a16:creationId xmlns:a16="http://schemas.microsoft.com/office/drawing/2014/main" id="{445EAAC6-7DBE-E3D3-43D0-46004FC0BB41}"/>
              </a:ext>
            </a:extLst>
          </p:cNvPr>
          <p:cNvSpPr/>
          <p:nvPr/>
        </p:nvSpPr>
        <p:spPr>
          <a:xfrm>
            <a:off x="-12192" y="-12192"/>
            <a:ext cx="12204192" cy="249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Google Shape;90;p1">
            <a:extLst>
              <a:ext uri="{FF2B5EF4-FFF2-40B4-BE49-F238E27FC236}">
                <a16:creationId xmlns:a16="http://schemas.microsoft.com/office/drawing/2014/main" id="{C28B2123-3D62-5E34-0152-2EF178071AB9}"/>
              </a:ext>
            </a:extLst>
          </p:cNvPr>
          <p:cNvSpPr/>
          <p:nvPr/>
        </p:nvSpPr>
        <p:spPr>
          <a:xfrm>
            <a:off x="-12192" y="6620256"/>
            <a:ext cx="4140439" cy="237744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Google Shape;90;p1">
            <a:extLst>
              <a:ext uri="{FF2B5EF4-FFF2-40B4-BE49-F238E27FC236}">
                <a16:creationId xmlns:a16="http://schemas.microsoft.com/office/drawing/2014/main" id="{8298AD6B-CBDB-D2B2-FB7E-35BE9847C3C2}"/>
              </a:ext>
            </a:extLst>
          </p:cNvPr>
          <p:cNvSpPr/>
          <p:nvPr/>
        </p:nvSpPr>
        <p:spPr>
          <a:xfrm>
            <a:off x="0" y="245824"/>
            <a:ext cx="12204192" cy="45719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Google Shape;89;p1">
            <a:extLst>
              <a:ext uri="{FF2B5EF4-FFF2-40B4-BE49-F238E27FC236}">
                <a16:creationId xmlns:a16="http://schemas.microsoft.com/office/drawing/2014/main" id="{9BFACC41-DD88-789D-14BE-B190AF668813}"/>
              </a:ext>
            </a:extLst>
          </p:cNvPr>
          <p:cNvSpPr/>
          <p:nvPr/>
        </p:nvSpPr>
        <p:spPr>
          <a:xfrm>
            <a:off x="8483480" y="6611072"/>
            <a:ext cx="3708520" cy="251191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2" name="Google Shape;89;p1">
            <a:extLst>
              <a:ext uri="{FF2B5EF4-FFF2-40B4-BE49-F238E27FC236}">
                <a16:creationId xmlns:a16="http://schemas.microsoft.com/office/drawing/2014/main" id="{6FFF2009-77D1-BD31-EA85-40C53A6D9013}"/>
              </a:ext>
            </a:extLst>
          </p:cNvPr>
          <p:cNvSpPr/>
          <p:nvPr/>
        </p:nvSpPr>
        <p:spPr>
          <a:xfrm>
            <a:off x="4128247" y="6614160"/>
            <a:ext cx="4385297" cy="249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3" name="Google Shape;97;p1" descr="Image result for jss aher logo">
            <a:extLst>
              <a:ext uri="{FF2B5EF4-FFF2-40B4-BE49-F238E27FC236}">
                <a16:creationId xmlns:a16="http://schemas.microsoft.com/office/drawing/2014/main" id="{29739647-08BE-BE1D-662C-1336D18CAA8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83344"/>
            <a:ext cx="216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A1A2C4-A172-EC5D-CDB2-241E72F3F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13096"/>
            <a:ext cx="10972800" cy="940401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340D1-25BF-752C-6423-28B6AD6DB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696" y="1220993"/>
            <a:ext cx="5332819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Acquisition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RNA-Seq data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Neobractatin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-treated and control HeLa cells obtained from public repositories.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sequencing data downloaded in FASTQ format.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Quality Control (QC)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assessment of raw reads performed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FastQC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base quality scores, GC content, sequence duplication, and adapter contamination.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B94CA-5F7A-1D4C-FC25-BCB8DF54B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516" y="1124898"/>
            <a:ext cx="6027174" cy="465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105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C5F38-879C-C9FF-CA63-DBB48FAB0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9;p1">
            <a:extLst>
              <a:ext uri="{FF2B5EF4-FFF2-40B4-BE49-F238E27FC236}">
                <a16:creationId xmlns:a16="http://schemas.microsoft.com/office/drawing/2014/main" id="{75195BB4-3A4E-02B2-1D0F-AB41811B54C0}"/>
              </a:ext>
            </a:extLst>
          </p:cNvPr>
          <p:cNvSpPr/>
          <p:nvPr/>
        </p:nvSpPr>
        <p:spPr>
          <a:xfrm>
            <a:off x="-12192" y="-12192"/>
            <a:ext cx="12204192" cy="249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Google Shape;90;p1">
            <a:extLst>
              <a:ext uri="{FF2B5EF4-FFF2-40B4-BE49-F238E27FC236}">
                <a16:creationId xmlns:a16="http://schemas.microsoft.com/office/drawing/2014/main" id="{10F2AAA9-A3D1-E0EF-6E2F-C319BC709F8C}"/>
              </a:ext>
            </a:extLst>
          </p:cNvPr>
          <p:cNvSpPr/>
          <p:nvPr/>
        </p:nvSpPr>
        <p:spPr>
          <a:xfrm>
            <a:off x="-12192" y="6620256"/>
            <a:ext cx="4140439" cy="237744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Google Shape;90;p1">
            <a:extLst>
              <a:ext uri="{FF2B5EF4-FFF2-40B4-BE49-F238E27FC236}">
                <a16:creationId xmlns:a16="http://schemas.microsoft.com/office/drawing/2014/main" id="{0AFDA647-9704-DBCB-CD2D-30C7431D91FE}"/>
              </a:ext>
            </a:extLst>
          </p:cNvPr>
          <p:cNvSpPr/>
          <p:nvPr/>
        </p:nvSpPr>
        <p:spPr>
          <a:xfrm>
            <a:off x="0" y="245824"/>
            <a:ext cx="12204192" cy="45719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Google Shape;89;p1">
            <a:extLst>
              <a:ext uri="{FF2B5EF4-FFF2-40B4-BE49-F238E27FC236}">
                <a16:creationId xmlns:a16="http://schemas.microsoft.com/office/drawing/2014/main" id="{942A2C6B-FB95-0BB4-12B1-5D3A1BB95366}"/>
              </a:ext>
            </a:extLst>
          </p:cNvPr>
          <p:cNvSpPr/>
          <p:nvPr/>
        </p:nvSpPr>
        <p:spPr>
          <a:xfrm>
            <a:off x="8483480" y="6611072"/>
            <a:ext cx="3708520" cy="251191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2" name="Google Shape;89;p1">
            <a:extLst>
              <a:ext uri="{FF2B5EF4-FFF2-40B4-BE49-F238E27FC236}">
                <a16:creationId xmlns:a16="http://schemas.microsoft.com/office/drawing/2014/main" id="{E8D87118-5CA7-500E-59AB-462CD15E3FB6}"/>
              </a:ext>
            </a:extLst>
          </p:cNvPr>
          <p:cNvSpPr/>
          <p:nvPr/>
        </p:nvSpPr>
        <p:spPr>
          <a:xfrm>
            <a:off x="4128247" y="6614160"/>
            <a:ext cx="4385297" cy="249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3" name="Google Shape;97;p1" descr="Image result for jss aher logo">
            <a:extLst>
              <a:ext uri="{FF2B5EF4-FFF2-40B4-BE49-F238E27FC236}">
                <a16:creationId xmlns:a16="http://schemas.microsoft.com/office/drawing/2014/main" id="{63CD1BD9-2705-1EBB-A116-27F3FA1802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83344"/>
            <a:ext cx="216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0672DF-5A13-EA5A-AE8A-F2DDEC8F1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AEE4A-F80A-0A93-43AF-E703B876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00512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Pre-processing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Low-quality bases and adapter sequences removed using trimming tools.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Post-trimming quality assessment performed to ensure data reliability.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Differential Gene Expression Analysis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count matrix generated and normalized.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expression analysis performed using DESeq2.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Genes filtered based on log2 fold change and adjusted p-value.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Functional Enrichment Analysis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 Ontology (GO) and pathway enrichment analysis performed.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Biological interpretation of enriched pathways.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31994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7F3FF-1CEC-2663-883A-7E8A31251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9;p1">
            <a:extLst>
              <a:ext uri="{FF2B5EF4-FFF2-40B4-BE49-F238E27FC236}">
                <a16:creationId xmlns:a16="http://schemas.microsoft.com/office/drawing/2014/main" id="{0FE6246C-8715-F48E-0C27-D1591B487C0E}"/>
              </a:ext>
            </a:extLst>
          </p:cNvPr>
          <p:cNvSpPr/>
          <p:nvPr/>
        </p:nvSpPr>
        <p:spPr>
          <a:xfrm>
            <a:off x="-12192" y="-12192"/>
            <a:ext cx="12204192" cy="249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Google Shape;90;p1">
            <a:extLst>
              <a:ext uri="{FF2B5EF4-FFF2-40B4-BE49-F238E27FC236}">
                <a16:creationId xmlns:a16="http://schemas.microsoft.com/office/drawing/2014/main" id="{8EA946CA-9444-FD1A-CCAC-8441BB9A2B03}"/>
              </a:ext>
            </a:extLst>
          </p:cNvPr>
          <p:cNvSpPr/>
          <p:nvPr/>
        </p:nvSpPr>
        <p:spPr>
          <a:xfrm>
            <a:off x="-12192" y="6620256"/>
            <a:ext cx="4140439" cy="237744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Google Shape;90;p1">
            <a:extLst>
              <a:ext uri="{FF2B5EF4-FFF2-40B4-BE49-F238E27FC236}">
                <a16:creationId xmlns:a16="http://schemas.microsoft.com/office/drawing/2014/main" id="{9A735BF4-CF49-55A1-7880-86C0E92CA557}"/>
              </a:ext>
            </a:extLst>
          </p:cNvPr>
          <p:cNvSpPr/>
          <p:nvPr/>
        </p:nvSpPr>
        <p:spPr>
          <a:xfrm>
            <a:off x="0" y="245824"/>
            <a:ext cx="12204192" cy="45719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Google Shape;89;p1">
            <a:extLst>
              <a:ext uri="{FF2B5EF4-FFF2-40B4-BE49-F238E27FC236}">
                <a16:creationId xmlns:a16="http://schemas.microsoft.com/office/drawing/2014/main" id="{C448842E-F10F-3836-BBCE-C7F239D1402F}"/>
              </a:ext>
            </a:extLst>
          </p:cNvPr>
          <p:cNvSpPr/>
          <p:nvPr/>
        </p:nvSpPr>
        <p:spPr>
          <a:xfrm>
            <a:off x="8483480" y="6611072"/>
            <a:ext cx="3708520" cy="251191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2" name="Google Shape;89;p1">
            <a:extLst>
              <a:ext uri="{FF2B5EF4-FFF2-40B4-BE49-F238E27FC236}">
                <a16:creationId xmlns:a16="http://schemas.microsoft.com/office/drawing/2014/main" id="{89670357-A12B-53D9-FDB0-C0137E4D3642}"/>
              </a:ext>
            </a:extLst>
          </p:cNvPr>
          <p:cNvSpPr/>
          <p:nvPr/>
        </p:nvSpPr>
        <p:spPr>
          <a:xfrm>
            <a:off x="4128247" y="6614160"/>
            <a:ext cx="4385297" cy="249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3" name="Google Shape;97;p1" descr="Image result for jss aher logo">
            <a:extLst>
              <a:ext uri="{FF2B5EF4-FFF2-40B4-BE49-F238E27FC236}">
                <a16:creationId xmlns:a16="http://schemas.microsoft.com/office/drawing/2014/main" id="{E78E11FC-8F23-01B9-2868-59D740DA7D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83344"/>
            <a:ext cx="216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D752C3-D288-8C53-9027-BB13EE565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1828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62B17-3B32-A96A-DC82-731820CAC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275" y="1186822"/>
            <a:ext cx="642436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Quality Control Results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samples showed high per-base quality scores (Phred &gt; 30).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 content was consistent across samples.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major adapter contamination detected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suitable for downstream analysis.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40DF7F-F113-7747-6F09-4A2F1FB7A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895" y="1358998"/>
            <a:ext cx="5615466" cy="28146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EB463A-EDDE-EC26-9F8B-D0DBE5AB8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96" y="2611940"/>
            <a:ext cx="5702710" cy="2216608"/>
          </a:xfrm>
          <a:prstGeom prst="rect">
            <a:avLst/>
          </a:prstGeom>
        </p:spPr>
      </p:pic>
      <p:pic>
        <p:nvPicPr>
          <p:cNvPr id="5" name="Google Shape;103;p4">
            <a:extLst>
              <a:ext uri="{FF2B5EF4-FFF2-40B4-BE49-F238E27FC236}">
                <a16:creationId xmlns:a16="http://schemas.microsoft.com/office/drawing/2014/main" id="{711B94AD-DA62-0852-4C9E-C49C720AF9E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571" y="4940152"/>
            <a:ext cx="8568177" cy="15390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7894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F488B-2817-C1AD-FF3A-9E764B318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9;p1">
            <a:extLst>
              <a:ext uri="{FF2B5EF4-FFF2-40B4-BE49-F238E27FC236}">
                <a16:creationId xmlns:a16="http://schemas.microsoft.com/office/drawing/2014/main" id="{C15AEE07-FEA5-0FCB-226D-C460E3A1482F}"/>
              </a:ext>
            </a:extLst>
          </p:cNvPr>
          <p:cNvSpPr/>
          <p:nvPr/>
        </p:nvSpPr>
        <p:spPr>
          <a:xfrm>
            <a:off x="-12192" y="-12192"/>
            <a:ext cx="12204192" cy="249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Google Shape;90;p1">
            <a:extLst>
              <a:ext uri="{FF2B5EF4-FFF2-40B4-BE49-F238E27FC236}">
                <a16:creationId xmlns:a16="http://schemas.microsoft.com/office/drawing/2014/main" id="{563F9802-8B9C-2B4F-6949-3E262F404EFA}"/>
              </a:ext>
            </a:extLst>
          </p:cNvPr>
          <p:cNvSpPr/>
          <p:nvPr/>
        </p:nvSpPr>
        <p:spPr>
          <a:xfrm>
            <a:off x="-12192" y="6620256"/>
            <a:ext cx="4140439" cy="237744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Google Shape;90;p1">
            <a:extLst>
              <a:ext uri="{FF2B5EF4-FFF2-40B4-BE49-F238E27FC236}">
                <a16:creationId xmlns:a16="http://schemas.microsoft.com/office/drawing/2014/main" id="{85660725-69BA-2C2F-65F2-8CBFC16BB01D}"/>
              </a:ext>
            </a:extLst>
          </p:cNvPr>
          <p:cNvSpPr/>
          <p:nvPr/>
        </p:nvSpPr>
        <p:spPr>
          <a:xfrm>
            <a:off x="0" y="245824"/>
            <a:ext cx="12204192" cy="45719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Google Shape;89;p1">
            <a:extLst>
              <a:ext uri="{FF2B5EF4-FFF2-40B4-BE49-F238E27FC236}">
                <a16:creationId xmlns:a16="http://schemas.microsoft.com/office/drawing/2014/main" id="{582EFF18-D541-FE15-5FF7-554DE080BA96}"/>
              </a:ext>
            </a:extLst>
          </p:cNvPr>
          <p:cNvSpPr/>
          <p:nvPr/>
        </p:nvSpPr>
        <p:spPr>
          <a:xfrm>
            <a:off x="8498031" y="6606809"/>
            <a:ext cx="3794531" cy="257287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2" name="Google Shape;89;p1">
            <a:extLst>
              <a:ext uri="{FF2B5EF4-FFF2-40B4-BE49-F238E27FC236}">
                <a16:creationId xmlns:a16="http://schemas.microsoft.com/office/drawing/2014/main" id="{70AB44DE-57ED-6EF4-2ED2-EF75DDE9D73A}"/>
              </a:ext>
            </a:extLst>
          </p:cNvPr>
          <p:cNvSpPr/>
          <p:nvPr/>
        </p:nvSpPr>
        <p:spPr>
          <a:xfrm>
            <a:off x="4128247" y="6614160"/>
            <a:ext cx="4385297" cy="249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3" name="Google Shape;97;p1" descr="Image result for jss aher logo">
            <a:extLst>
              <a:ext uri="{FF2B5EF4-FFF2-40B4-BE49-F238E27FC236}">
                <a16:creationId xmlns:a16="http://schemas.microsoft.com/office/drawing/2014/main" id="{3209619C-61E8-56A8-6950-AD3AF05F4B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83344"/>
            <a:ext cx="216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C8005-5975-39B2-BCF8-2BDE2B6AA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011" y="573507"/>
            <a:ext cx="7162936" cy="40053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Exploratory Data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(PCA) showed clear separation between control and NBT-treated samples.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Replicates clustered together, indicating good reproducibility.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Differential Gene Expression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upregulated and downregulated genes identified after NBT treatment.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Volcano plot highlights genes with high fold change and statistical significance.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 reveals distinct expression patterns between control and treated samples.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Google Shape;169;p15">
            <a:extLst>
              <a:ext uri="{FF2B5EF4-FFF2-40B4-BE49-F238E27FC236}">
                <a16:creationId xmlns:a16="http://schemas.microsoft.com/office/drawing/2014/main" id="{E2B950BE-B727-F5DA-FAC0-C8236DE286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9939" y="898880"/>
            <a:ext cx="4203290" cy="2755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79;p17">
            <a:extLst>
              <a:ext uri="{FF2B5EF4-FFF2-40B4-BE49-F238E27FC236}">
                <a16:creationId xmlns:a16="http://schemas.microsoft.com/office/drawing/2014/main" id="{2BD4D18F-6D5F-333A-CA98-2DB7F69594E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791" y="3429000"/>
            <a:ext cx="5936231" cy="314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74;p16">
            <a:extLst>
              <a:ext uri="{FF2B5EF4-FFF2-40B4-BE49-F238E27FC236}">
                <a16:creationId xmlns:a16="http://schemas.microsoft.com/office/drawing/2014/main" id="{D12CE1E4-C4E3-37A9-8EC6-EAFA213537C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09939" y="3657012"/>
            <a:ext cx="4682624" cy="29647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3715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8F3D7-D9A1-9A82-1C09-B6498888C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9;p1">
            <a:extLst>
              <a:ext uri="{FF2B5EF4-FFF2-40B4-BE49-F238E27FC236}">
                <a16:creationId xmlns:a16="http://schemas.microsoft.com/office/drawing/2014/main" id="{11FDF134-45B0-C2F1-AE16-213CD2A575DE}"/>
              </a:ext>
            </a:extLst>
          </p:cNvPr>
          <p:cNvSpPr/>
          <p:nvPr/>
        </p:nvSpPr>
        <p:spPr>
          <a:xfrm>
            <a:off x="-12192" y="-12192"/>
            <a:ext cx="12204192" cy="249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9" name="Google Shape;90;p1">
            <a:extLst>
              <a:ext uri="{FF2B5EF4-FFF2-40B4-BE49-F238E27FC236}">
                <a16:creationId xmlns:a16="http://schemas.microsoft.com/office/drawing/2014/main" id="{578892ED-3592-228D-1680-CA555B103222}"/>
              </a:ext>
            </a:extLst>
          </p:cNvPr>
          <p:cNvSpPr/>
          <p:nvPr/>
        </p:nvSpPr>
        <p:spPr>
          <a:xfrm>
            <a:off x="-12192" y="6620256"/>
            <a:ext cx="4140439" cy="237744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Google Shape;90;p1">
            <a:extLst>
              <a:ext uri="{FF2B5EF4-FFF2-40B4-BE49-F238E27FC236}">
                <a16:creationId xmlns:a16="http://schemas.microsoft.com/office/drawing/2014/main" id="{02C7C627-FF92-D984-DAD0-5D4AD424EBE4}"/>
              </a:ext>
            </a:extLst>
          </p:cNvPr>
          <p:cNvSpPr/>
          <p:nvPr/>
        </p:nvSpPr>
        <p:spPr>
          <a:xfrm>
            <a:off x="0" y="245824"/>
            <a:ext cx="12204192" cy="45719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Google Shape;89;p1">
            <a:extLst>
              <a:ext uri="{FF2B5EF4-FFF2-40B4-BE49-F238E27FC236}">
                <a16:creationId xmlns:a16="http://schemas.microsoft.com/office/drawing/2014/main" id="{41C9E8FF-0622-0051-4A79-505E9C71269A}"/>
              </a:ext>
            </a:extLst>
          </p:cNvPr>
          <p:cNvSpPr/>
          <p:nvPr/>
        </p:nvSpPr>
        <p:spPr>
          <a:xfrm>
            <a:off x="8483480" y="6611072"/>
            <a:ext cx="3708520" cy="251191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2" name="Google Shape;89;p1">
            <a:extLst>
              <a:ext uri="{FF2B5EF4-FFF2-40B4-BE49-F238E27FC236}">
                <a16:creationId xmlns:a16="http://schemas.microsoft.com/office/drawing/2014/main" id="{8E61A27B-7EE7-EDE9-B2A1-A84BEA977A60}"/>
              </a:ext>
            </a:extLst>
          </p:cNvPr>
          <p:cNvSpPr/>
          <p:nvPr/>
        </p:nvSpPr>
        <p:spPr>
          <a:xfrm>
            <a:off x="4128247" y="6614160"/>
            <a:ext cx="4385297" cy="249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13" name="Google Shape;97;p1" descr="Image result for jss aher logo">
            <a:extLst>
              <a:ext uri="{FF2B5EF4-FFF2-40B4-BE49-F238E27FC236}">
                <a16:creationId xmlns:a16="http://schemas.microsoft.com/office/drawing/2014/main" id="{2FC92DA5-126A-1549-6231-3A82C42188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83344"/>
            <a:ext cx="216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B10BDB46-F599-303F-BBF5-E784073A8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506" y="440888"/>
            <a:ext cx="5547856" cy="39315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Functional Enrichment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Enrichment of apoptosis, p53 signaling, and stress-response pathways.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Downregulation of metabolic and biosynthetic pathways.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suggest transcriptional reprogramming induced by NBT.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E7D69C6-E93F-577A-0B36-39DF7AC57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06" y="3097537"/>
            <a:ext cx="6127960" cy="341102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C6A041B-64A4-E57D-2FB8-5A52AFB94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8684" y="908939"/>
            <a:ext cx="5960811" cy="293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48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1D93-91DD-47DA-9508-43CC342A5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22652"/>
            <a:ext cx="10972800" cy="962106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9FDAA-04F6-7D72-CABE-24115448B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99329"/>
            <a:ext cx="109728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RNA-Seq analysis revealed significant transcriptional changes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Neobractatin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-treated HeLa cells compared to controls.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expression analysis identified both upregulated and downregulated genes with strong statistical significance.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Pathway enrichment analysis indicated activation of apoptosis, p53 signaling, and stress-response pathways.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Suppression of metabolic and biosynthetic pathways suggests inhibition of cellular proliferation.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results support the potential anticancer role of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Neobractatin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transcriptomic level.</a:t>
            </a:r>
          </a:p>
          <a:p>
            <a:endParaRPr lang="en-US" dirty="0"/>
          </a:p>
        </p:txBody>
      </p:sp>
      <p:sp>
        <p:nvSpPr>
          <p:cNvPr id="4" name="Google Shape;89;p1">
            <a:extLst>
              <a:ext uri="{FF2B5EF4-FFF2-40B4-BE49-F238E27FC236}">
                <a16:creationId xmlns:a16="http://schemas.microsoft.com/office/drawing/2014/main" id="{15ABC7DC-4C03-3B58-4F03-EAA18A192D8C}"/>
              </a:ext>
            </a:extLst>
          </p:cNvPr>
          <p:cNvSpPr/>
          <p:nvPr/>
        </p:nvSpPr>
        <p:spPr>
          <a:xfrm>
            <a:off x="-12192" y="-12192"/>
            <a:ext cx="12204192" cy="249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Google Shape;90;p1">
            <a:extLst>
              <a:ext uri="{FF2B5EF4-FFF2-40B4-BE49-F238E27FC236}">
                <a16:creationId xmlns:a16="http://schemas.microsoft.com/office/drawing/2014/main" id="{FD03F939-E4C8-EF4E-C839-F92522DFBCB1}"/>
              </a:ext>
            </a:extLst>
          </p:cNvPr>
          <p:cNvSpPr/>
          <p:nvPr/>
        </p:nvSpPr>
        <p:spPr>
          <a:xfrm>
            <a:off x="-12192" y="6620256"/>
            <a:ext cx="4140439" cy="237744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90;p1">
            <a:extLst>
              <a:ext uri="{FF2B5EF4-FFF2-40B4-BE49-F238E27FC236}">
                <a16:creationId xmlns:a16="http://schemas.microsoft.com/office/drawing/2014/main" id="{E2D7241F-0AF0-BB9F-E0B8-81AA9D687A93}"/>
              </a:ext>
            </a:extLst>
          </p:cNvPr>
          <p:cNvSpPr/>
          <p:nvPr/>
        </p:nvSpPr>
        <p:spPr>
          <a:xfrm>
            <a:off x="0" y="245824"/>
            <a:ext cx="12204192" cy="45719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Google Shape;89;p1">
            <a:extLst>
              <a:ext uri="{FF2B5EF4-FFF2-40B4-BE49-F238E27FC236}">
                <a16:creationId xmlns:a16="http://schemas.microsoft.com/office/drawing/2014/main" id="{E1FD3A86-70F2-1546-C6C6-26EF49D61ADD}"/>
              </a:ext>
            </a:extLst>
          </p:cNvPr>
          <p:cNvSpPr/>
          <p:nvPr/>
        </p:nvSpPr>
        <p:spPr>
          <a:xfrm>
            <a:off x="8483480" y="6611072"/>
            <a:ext cx="3708520" cy="251191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" name="Google Shape;89;p1">
            <a:extLst>
              <a:ext uri="{FF2B5EF4-FFF2-40B4-BE49-F238E27FC236}">
                <a16:creationId xmlns:a16="http://schemas.microsoft.com/office/drawing/2014/main" id="{31C204A4-0583-C4D5-B5EE-10A02C5A9325}"/>
              </a:ext>
            </a:extLst>
          </p:cNvPr>
          <p:cNvSpPr/>
          <p:nvPr/>
        </p:nvSpPr>
        <p:spPr>
          <a:xfrm>
            <a:off x="4128247" y="6614160"/>
            <a:ext cx="4385297" cy="249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9" name="Google Shape;97;p1" descr="Image result for jss aher logo">
            <a:extLst>
              <a:ext uri="{FF2B5EF4-FFF2-40B4-BE49-F238E27FC236}">
                <a16:creationId xmlns:a16="http://schemas.microsoft.com/office/drawing/2014/main" id="{FEB573D8-DB68-0FD0-D43D-DB0BF47DF5C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83344"/>
            <a:ext cx="2160000" cy="7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8745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2640A-F02B-8BD9-3A73-FBC69B744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DA80B-3DF5-C596-55A3-B0FAB52E0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TIME AND ATTENTION</a:t>
            </a:r>
          </a:p>
        </p:txBody>
      </p:sp>
      <p:sp>
        <p:nvSpPr>
          <p:cNvPr id="4" name="Google Shape;89;p1">
            <a:extLst>
              <a:ext uri="{FF2B5EF4-FFF2-40B4-BE49-F238E27FC236}">
                <a16:creationId xmlns:a16="http://schemas.microsoft.com/office/drawing/2014/main" id="{FC332D02-9AEB-1960-25DB-45BBAF7E11EF}"/>
              </a:ext>
            </a:extLst>
          </p:cNvPr>
          <p:cNvSpPr/>
          <p:nvPr/>
        </p:nvSpPr>
        <p:spPr>
          <a:xfrm>
            <a:off x="-12192" y="-12192"/>
            <a:ext cx="12204192" cy="249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Google Shape;90;p1">
            <a:extLst>
              <a:ext uri="{FF2B5EF4-FFF2-40B4-BE49-F238E27FC236}">
                <a16:creationId xmlns:a16="http://schemas.microsoft.com/office/drawing/2014/main" id="{F8B8D1C2-1DBD-F38C-FC8D-27C14171CD0B}"/>
              </a:ext>
            </a:extLst>
          </p:cNvPr>
          <p:cNvSpPr/>
          <p:nvPr/>
        </p:nvSpPr>
        <p:spPr>
          <a:xfrm>
            <a:off x="-12192" y="6620256"/>
            <a:ext cx="4140439" cy="237744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90;p1">
            <a:extLst>
              <a:ext uri="{FF2B5EF4-FFF2-40B4-BE49-F238E27FC236}">
                <a16:creationId xmlns:a16="http://schemas.microsoft.com/office/drawing/2014/main" id="{479FAD4C-D507-091A-103F-A387A9007027}"/>
              </a:ext>
            </a:extLst>
          </p:cNvPr>
          <p:cNvSpPr/>
          <p:nvPr/>
        </p:nvSpPr>
        <p:spPr>
          <a:xfrm>
            <a:off x="0" y="245824"/>
            <a:ext cx="12204192" cy="45719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i="1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Google Shape;89;p1">
            <a:extLst>
              <a:ext uri="{FF2B5EF4-FFF2-40B4-BE49-F238E27FC236}">
                <a16:creationId xmlns:a16="http://schemas.microsoft.com/office/drawing/2014/main" id="{F63220C7-9377-5CE0-FB02-49D9A58CF2A9}"/>
              </a:ext>
            </a:extLst>
          </p:cNvPr>
          <p:cNvSpPr/>
          <p:nvPr/>
        </p:nvSpPr>
        <p:spPr>
          <a:xfrm>
            <a:off x="8483480" y="6611072"/>
            <a:ext cx="3708520" cy="251191"/>
          </a:xfrm>
          <a:prstGeom prst="rect">
            <a:avLst/>
          </a:prstGeom>
          <a:solidFill>
            <a:srgbClr val="FFC000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" name="Google Shape;89;p1">
            <a:extLst>
              <a:ext uri="{FF2B5EF4-FFF2-40B4-BE49-F238E27FC236}">
                <a16:creationId xmlns:a16="http://schemas.microsoft.com/office/drawing/2014/main" id="{58FB7489-751F-183F-C1EA-455D757C4803}"/>
              </a:ext>
            </a:extLst>
          </p:cNvPr>
          <p:cNvSpPr/>
          <p:nvPr/>
        </p:nvSpPr>
        <p:spPr>
          <a:xfrm>
            <a:off x="4128247" y="6614160"/>
            <a:ext cx="4385297" cy="249936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9" name="Google Shape;97;p1" descr="Image result for jss aher logo">
            <a:extLst>
              <a:ext uri="{FF2B5EF4-FFF2-40B4-BE49-F238E27FC236}">
                <a16:creationId xmlns:a16="http://schemas.microsoft.com/office/drawing/2014/main" id="{F4208B32-661E-2ADE-D431-E009C22A4EC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82200" y="83344"/>
            <a:ext cx="2160000" cy="7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3604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651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Times New Roman</vt:lpstr>
      <vt:lpstr>Wingdings</vt:lpstr>
      <vt:lpstr>Office Theme</vt:lpstr>
      <vt:lpstr>PowerPoint Presentation</vt:lpstr>
      <vt:lpstr>Introduction </vt:lpstr>
      <vt:lpstr>Review of Literature </vt:lpstr>
      <vt:lpstr>Methodology </vt:lpstr>
      <vt:lpstr>Methodology</vt:lpstr>
      <vt:lpstr>Results and Discussion</vt:lpstr>
      <vt:lpstr>PowerPoint Presentation</vt:lpstr>
      <vt:lpstr>PowerPoint Presentation</vt:lpstr>
      <vt:lpstr>Conclusion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Padmavathi S</dc:creator>
  <cp:keywords/>
  <dc:description>generated using python-pptx</dc:description>
  <cp:lastModifiedBy>Padmavathi S</cp:lastModifiedBy>
  <cp:revision>8</cp:revision>
  <dcterms:created xsi:type="dcterms:W3CDTF">2013-01-27T09:14:16Z</dcterms:created>
  <dcterms:modified xsi:type="dcterms:W3CDTF">2026-01-31T02:42:18Z</dcterms:modified>
  <cp:category/>
</cp:coreProperties>
</file>